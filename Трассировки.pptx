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b="0" baseline="0" cap="none" i="0" spc="0" strike="noStrike" sz="4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 b="def" i="def"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9" name="Shape 16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Автор и дата"/>
          <p:cNvSpPr txBox="1"/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12" name="Заголовок презентации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13" name="Уровень текста 1…"/>
          <p:cNvSpPr txBox="1"/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Авокадо и лаймы"/>
          <p:cNvSpPr/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" name="Заголовок презентации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pc="-232" sz="11600"/>
            </a:lvl1pPr>
          </a:lstStyle>
          <a:p>
            <a:pPr/>
            <a:r>
              <a:t>Заголовок презентации</a:t>
            </a:r>
          </a:p>
        </p:txBody>
      </p:sp>
      <p:sp>
        <p:nvSpPr>
          <p:cNvPr id="23" name="Автор и дата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 и дата</a:t>
            </a:r>
          </a:p>
        </p:txBody>
      </p:sp>
      <p:sp>
        <p:nvSpPr>
          <p:cNvPr id="2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презентации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 фото (вариант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Тарелка с рублеными котлетами из лосося, салатом и хумусом"/>
          <p:cNvSpPr/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3" name="Заголовок слайда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pPr/>
            <a:r>
              <a:t>Заголовок слайда</a:t>
            </a:r>
          </a:p>
        </p:txBody>
      </p:sp>
      <p:sp>
        <p:nvSpPr>
          <p:cNvPr id="34" name="Уровень текста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5pPr>
          </a:lstStyle>
          <a:p>
            <a:pPr/>
            <a:r>
              <a:t>Подзаголовок слайда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35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 и 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Заголовок слайда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43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44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нкт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3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 и 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61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62" name="Тарелка пасты папарделле с зелёным маслом из петрушки, жареным фундуком и стружкой сыра пармезан"/>
          <p:cNvSpPr/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6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мелк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7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7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7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Заголовок, пункты, видео — крупн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82" name="Уровень текста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83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84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Разде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Заголовок раздела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b="0"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pPr/>
            <a:r>
              <a:t>Заголовок раздела</a:t>
            </a:r>
          </a:p>
        </p:txBody>
      </p:sp>
      <p:sp>
        <p:nvSpPr>
          <p:cNvPr id="92" name="Номер слайда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слайда</a:t>
            </a:r>
          </a:p>
        </p:txBody>
      </p:sp>
      <p:sp>
        <p:nvSpPr>
          <p:cNvPr id="100" name="Подзаголовок слайда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слайда</a:t>
            </a:r>
          </a:p>
        </p:txBody>
      </p:sp>
      <p:sp>
        <p:nvSpPr>
          <p:cNvPr id="10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овестка д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Заголовок повестки дня"/>
          <p:cNvSpPr txBox="1"/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pPr/>
            <a:r>
              <a:t>Заголовок повестки дня</a:t>
            </a:r>
          </a:p>
        </p:txBody>
      </p:sp>
      <p:sp>
        <p:nvSpPr>
          <p:cNvPr id="109" name="Подзаголовок повестки дня"/>
          <p:cNvSpPr txBox="1"/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Подзаголовок повестки дня</a:t>
            </a:r>
          </a:p>
        </p:txBody>
      </p:sp>
      <p:sp>
        <p:nvSpPr>
          <p:cNvPr id="110" name="Уровень текста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pc="-55" sz="5500"/>
            </a:lvl5pPr>
          </a:lstStyle>
          <a:p>
            <a:pPr/>
            <a:r>
              <a:t>Темы повестки дня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1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Информационное сообщ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Уровень текста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pc="-232" sz="116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Информационное сообщение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19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Важный фа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Уровень текста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b="1" spc="-250" sz="25000"/>
            </a:lvl5pPr>
          </a:lstStyle>
          <a:p>
            <a:pPr/>
            <a:r>
              <a:t>100 %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27" name="Информация о факте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5500"/>
            </a:lvl1pPr>
          </a:lstStyle>
          <a:p>
            <a:pPr/>
            <a:r>
              <a:t>Информация о факте</a:t>
            </a:r>
          </a:p>
        </p:txBody>
      </p:sp>
      <p:sp>
        <p:nvSpPr>
          <p:cNvPr id="128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Цита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Авторство"/>
          <p:cNvSpPr txBox="1"/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b="1" sz="3600"/>
            </a:lvl1pPr>
          </a:lstStyle>
          <a:p>
            <a:pPr/>
            <a:r>
              <a:t>Авторство</a:t>
            </a:r>
          </a:p>
        </p:txBody>
      </p:sp>
      <p:sp>
        <p:nvSpPr>
          <p:cNvPr id="136" name="Уровень текста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pc="-170" sz="850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pPr/>
            <a:r>
              <a:t>«Важная цитата»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 (3 шт.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Миска салата с жареным рисом, варёными яйцами и палочками для еды"/>
          <p:cNvSpPr/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5" name="Тарелка с рублеными котлетами из лосося, салатом и хумусом "/>
          <p:cNvSpPr/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6" name="Тарелка пасты папарделле с зелёным маслом из петрушки, жареным фундуком и стружкой сыра пармезан"/>
          <p:cNvSpPr/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7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Фот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миска салата с жареным рисом, варёными яйцами и палочками для еды"/>
          <p:cNvSpPr/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5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Пусто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Номер слайда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слайда"/>
          <p:cNvSpPr txBox="1"/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Заголовок слайда</a:t>
            </a:r>
          </a:p>
        </p:txBody>
      </p:sp>
      <p:sp>
        <p:nvSpPr>
          <p:cNvPr id="3" name="Уровень текста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50800" tIns="50800" rIns="50800" bIns="50800">
            <a:normAutofit fontScale="100000" lnSpcReduction="0"/>
          </a:bodyPr>
          <a:lstStyle/>
          <a:p>
            <a:pPr/>
            <a:r>
              <a:t>Текст пункта на слайде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4" name="Номер слайда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</p:sldLayoutIdLst>
  <p:transition xmlns:p14="http://schemas.microsoft.com/office/powerpoint/2010/main" spd="med" advClick="1"/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-170" strike="noStrike" sz="85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b="0" baseline="0" cap="none" i="0" spc="0" strike="noStrike" sz="4800" u="none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800" u="none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2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Автор и дат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2" name="Трассировки"/>
          <p:cNvSpPr txBox="1"/>
          <p:nvPr>
            <p:ph type="ctr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Трассировки</a:t>
            </a:r>
          </a:p>
        </p:txBody>
      </p:sp>
      <p:sp>
        <p:nvSpPr>
          <p:cNvPr id="173" name="Подзаголовок презентации"/>
          <p:cNvSpPr txBox="1"/>
          <p:nvPr>
            <p:ph type="subTitle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Заголовок слайда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6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7" name="Трассировки - данные о прохождении запроса через сеть сервисов (какие сервисы, какой путь через них, сколько в каждом сервисе и в конкретном куске кода), имеют идентификатор, по которому можно их посмотреть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Трассировки - данные о прохождении запроса через сеть сервисов (какие сервисы, какой путь через них, сколько в каждом сервисе и в конкретном куске кода), имеют идентификатор, по которому можно их посмотреть.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Определения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Определения</a:t>
            </a:r>
          </a:p>
        </p:txBody>
      </p:sp>
      <p:sp>
        <p:nvSpPr>
          <p:cNvPr id="180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1" name="Спан (Span) - кусок информации о прохождении запроса через сервис/сервисы, идентифицирующий конкретный кусок работы (API-метод, метод класса, просто кусок кода). Состоит из разной мета-информации: время начало и окончания работы, id спана и трассировки, 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Спан (Span) - кусок информации о прохождении запроса через сервис/сервисы, идентифицирующий конкретный кусок работы (API-метод, метод класса, просто кусок кода). Состоит из разной мета-информации: время начало и окончания работы, id спана и трассировки, может быть статус запроса, данные о запросе или куске кода, а также любая кастомная информация.</a:t>
            </a:r>
          </a:p>
          <a:p>
            <a:pPr/>
          </a:p>
          <a:p>
            <a:pPr/>
            <a:r>
              <a:t>CorrelationId/TraceId - это сам сквозной идентификатор трассировки, содержится во всех спанах, относящихся к ней.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.NET и трассиров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.NET и трассировки</a:t>
            </a:r>
          </a:p>
        </p:txBody>
      </p:sp>
      <p:sp>
        <p:nvSpPr>
          <p:cNvPr id="184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Стандарт в современном .NET - через Activity и ActivitySource. Кастомные спаны создаются вместе с Activity, которые порождаются через ActivitySource.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Стандарт в современном .NET - через Activity и ActivitySource. Кастомные спаны создаются вместе с Activity, которые порождаются через ActivitySource.</a:t>
            </a:r>
          </a:p>
          <a:p>
            <a:pPr/>
          </a:p>
          <a:p>
            <a:pPr/>
            <a:r>
              <a:t>Существует ещё и ITracerProvider, но это более низкоуровневая вещь, которую заметно сложнее интегрировать со сбором трассировок.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OpenTelemetry SDK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OpenTelemetry SDK</a:t>
            </a:r>
          </a:p>
        </p:txBody>
      </p:sp>
      <p:sp>
        <p:nvSpPr>
          <p:cNvPr id="188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9" name="Сейчас самый лёгкий способ собрать трассировки и отправить их в централизованное хранилище - OpenTelemetry SDK и OpenTelemetry Collectors. Работают едино с логами и метриками и подключаются так же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Сейчас самый лёгкий способ собрать трассировки и отправить их в централизованное хранилище - OpenTelemetry SDK и OpenTelemetry Collectors. Работают едино с логами и метриками и подключаются так же.</a:t>
            </a:r>
          </a:p>
        </p:txBody>
      </p:sp>
      <p:pic>
        <p:nvPicPr>
          <p:cNvPr id="190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025062" y="2553859"/>
            <a:ext cx="5040350" cy="165344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Jaeger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Jaeger</a:t>
            </a:r>
          </a:p>
        </p:txBody>
      </p:sp>
      <p:sp>
        <p:nvSpPr>
          <p:cNvPr id="193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4" name="Сервис для хранения трассировок и их сборщик. До OpenTelemetry был один из самых распространённых сервисов для трассировок, сейчас код не нужно настраивать специально под него, его можно использовать как сборщик спанов в формате OpenTelemetry и хранилку 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Сервис для хранения трассировок и их сборщик. До OpenTelemetry был один из самых распространённых сервисов для трассировок, сейчас код не нужно настраивать специально под него, его можно использовать как сборщик спанов в формате OpenTelemetry и хранилку для них.</a:t>
            </a:r>
          </a:p>
        </p:txBody>
      </p:sp>
      <p:pic>
        <p:nvPicPr>
          <p:cNvPr id="195" name="вставленный-фильм.png" descr="вставленный-фильм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278086" y="991874"/>
            <a:ext cx="5888629" cy="21736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Дополнительные плюшки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Дополнительные плюшки</a:t>
            </a:r>
          </a:p>
        </p:txBody>
      </p:sp>
      <p:sp>
        <p:nvSpPr>
          <p:cNvPr id="198" name="Подзаголовок слайда"/>
          <p:cNvSpPr txBox="1"/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9" name="Трассировки можно объединять с логами! Это позволяет вычитывать логи всех сервисов на пути запроса, чтобы понять, что пошло не так. Jaeger и Otel так умеют, часто в крупных компаниях встречаются и свои решения.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Трассировки можно объединять с логами! Это позволяет вычитывать логи всех сервисов на пути запроса, чтобы понять, что пошло не так. Jaeger и Otel так умеют, часто в крупных компаниях встречаются и свои решения.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4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